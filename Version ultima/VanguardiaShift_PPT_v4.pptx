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90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9B1">
              <a:alpha val="5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968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81912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4663440"/>
            <a:ext cx="73152" cy="73152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5943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</a:rPr>
              <a:t>VANGUARDIASHIFT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11480" y="142646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9B1"/>
                </a:solidFill>
              </a:rPr>
              <a:t>Sistema Web de Gestión de Turnos Profesionales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1865376"/>
            <a:ext cx="141732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116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A8C4"/>
                </a:solidFill>
              </a:rPr>
              <a:t>Arquitectura desacoplada · Vue.js 3 + Laravel 11 · PHPUnit · GitHub Actions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359152"/>
            <a:ext cx="667512" cy="210312"/>
          </a:xfrm>
          <a:prstGeom prst="roundRect">
            <a:avLst>
              <a:gd name="adj" fmla="val 1739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59152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Vue 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8720" y="2359152"/>
            <a:ext cx="1078992" cy="210312"/>
          </a:xfrm>
          <a:prstGeom prst="roundRect">
            <a:avLst>
              <a:gd name="adj" fmla="val 1739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359152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Laravel 11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377440" y="2359152"/>
            <a:ext cx="832104" cy="210312"/>
          </a:xfrm>
          <a:prstGeom prst="roundRect">
            <a:avLst>
              <a:gd name="adj" fmla="val 17391"/>
            </a:avLst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77440" y="2359152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PHPUnit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19272" y="2359152"/>
            <a:ext cx="832104" cy="210312"/>
          </a:xfrm>
          <a:prstGeom prst="roundRect">
            <a:avLst>
              <a:gd name="adj" fmla="val 17391"/>
            </a:avLst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9272" y="2359152"/>
            <a:ext cx="8321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Sanctum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61104" y="2359152"/>
            <a:ext cx="1408176" cy="210312"/>
          </a:xfrm>
          <a:prstGeom prst="roundRect">
            <a:avLst>
              <a:gd name="adj" fmla="val 17391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61104" y="2359152"/>
            <a:ext cx="14081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GitHub Actions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11480" y="285292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FA5"/>
                </a:solidFill>
              </a:rPr>
              <a:t>Materia: Programación de Vanguardia  ·  Docente: Esteban Calcagno  ·  Entrega: 19 de junio 2026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255264"/>
            <a:ext cx="1508760" cy="1115568"/>
          </a:xfrm>
          <a:prstGeom prst="roundRect">
            <a:avLst>
              <a:gd name="adj" fmla="val 5738"/>
            </a:avLst>
          </a:prstGeom>
          <a:solidFill>
            <a:srgbClr val="0A1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735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7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11480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Archivos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75688" y="3255264"/>
            <a:ext cx="1508760" cy="1115568"/>
          </a:xfrm>
          <a:prstGeom prst="roundRect">
            <a:avLst>
              <a:gd name="adj" fmla="val 5738"/>
            </a:avLst>
          </a:prstGeom>
          <a:solidFill>
            <a:srgbClr val="0A1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75688" y="32735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5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075688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Endpoints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39896" y="3255264"/>
            <a:ext cx="1508760" cy="1115568"/>
          </a:xfrm>
          <a:prstGeom prst="roundRect">
            <a:avLst>
              <a:gd name="adj" fmla="val 5738"/>
            </a:avLst>
          </a:prstGeom>
          <a:solidFill>
            <a:srgbClr val="0A1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32735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3739896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Tests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04104" y="3255264"/>
            <a:ext cx="1508760" cy="1115568"/>
          </a:xfrm>
          <a:prstGeom prst="roundRect">
            <a:avLst>
              <a:gd name="adj" fmla="val 5738"/>
            </a:avLst>
          </a:prstGeom>
          <a:solidFill>
            <a:srgbClr val="0A1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04104" y="32735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4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404104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Capas seg.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68312" y="3255264"/>
            <a:ext cx="1508760" cy="1115568"/>
          </a:xfrm>
          <a:prstGeom prst="roundRect">
            <a:avLst>
              <a:gd name="adj" fmla="val 5738"/>
            </a:avLst>
          </a:prstGeom>
          <a:solidFill>
            <a:srgbClr val="0A153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68312" y="327355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1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7068312" y="39319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Pipeline CI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Equipo — División de Roles y Responsabilidades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El TP fue desarrollado en equipo con roles claros. Cada integrante es responsable de una capa del sistema y puede defenderla.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834640" cy="3858768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60120"/>
            <a:ext cx="2834640" cy="502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9032" y="1078992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9032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Integrante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1975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Backend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322576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2860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Arquitectura desacoplada Vue + Laravel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" y="2670048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TurnoController con lockForUpdate()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3017520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9809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StoreTurnoRequest — validación de datos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" y="3364992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3284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AuthController — login / registro / logout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3712464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36758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CheckRole middleware — seguridad por rol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" y="4059936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40233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Modelos User y Turno (Eloquent + SoftDelete)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" y="4407408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437083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Migraciones y base de datos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18688" y="960120"/>
            <a:ext cx="2834640" cy="3858768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960120"/>
            <a:ext cx="2834640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61688" y="1078992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1688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10128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Integrante 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1975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4ED8"/>
                </a:solidFill>
              </a:rPr>
              <a:t>Frontend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01568" y="2322576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47872" y="22860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BookingCalendar.vue — flujo de 3 pasos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01568" y="267004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47872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LoginView y DashboardView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01568" y="3017520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47872" y="29809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AgendaView — pantalla del profesional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01568" y="3364992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3284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Axios configurado con interceptor de token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01568" y="3712464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36758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Pinia store — gestión de sesión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401568" y="4059936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0233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Vue Router con guardas de navegación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401568" y="440740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47872" y="437083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Diseño responsive con Tailwind CSS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81344" y="960120"/>
            <a:ext cx="2834640" cy="3858768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81344" y="960120"/>
            <a:ext cx="2834640" cy="5029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24344" y="1078992"/>
            <a:ext cx="548640" cy="548640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24344" y="1078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272784" y="17007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Integrante 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72784" y="19751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1D95"/>
                </a:solidFill>
              </a:rPr>
              <a:t>Testing, CI/CD y Documentación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64224" y="2322576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0528" y="228600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6 Feature Tests PHPUnit de integración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64224" y="2670048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0528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Configuración phpunit.xml (SQLite :memory:)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64224" y="3017520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298094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Pipeline GitHub Actions (.github/workflows)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64224" y="3364992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332841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Factories y Seeders con datos de demo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64224" y="3712464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36758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Documento técnico — entregable del TP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364224" y="4059936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0528" y="402336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README del repositorio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364224" y="4407408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437083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Deploy en Railway (backend) y Vercel (frontend)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56032" y="4919472"/>
            <a:ext cx="8631936" cy="274320"/>
          </a:xfrm>
          <a:prstGeom prst="roundRect">
            <a:avLst>
              <a:gd name="adj" fmla="val 2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402336" y="49194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Reemplazá 'Integrante 1, 2, 3' con los nombres reales del equipo antes de la presentación.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El Problema que Resolvemos — y cómo VanguardiaShift lo soluciona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566928"/>
            <a:ext cx="4133088" cy="312724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566928"/>
            <a:ext cx="50292" cy="3127248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58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</a:rPr>
              <a:t>❌  EL PROBLEMA HOY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960120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Reservas solo telefónicas en horario de atención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99616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53896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Saturación: muchos pacientes, un solo teléfono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47672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Agenda en papel → dobles reservas y errores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441448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El profesional no sabe su agenda hasta llegar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35224"/>
            <a:ext cx="3675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Sin historial digital ni trazabilidad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566928"/>
            <a:ext cx="4315968" cy="312724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566928"/>
            <a:ext cx="50292" cy="3127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658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</a:rPr>
              <a:t>✅  VANGUARDIASHIFT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73168" y="1005840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96012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Reservas online 24/7 sin llamadas ni esperas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73168" y="1499616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453896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Sin posibilidad de dobles reservas en el mismo horario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1993392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947672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Validación automática: datos siempre correctos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2487168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4144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Agenda en tiempo real desde cualquier dispositivo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73168" y="2980944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35224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Historial completo e inalterable de todos los turnos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" y="3785616"/>
            <a:ext cx="2834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9184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Cliente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Reserva y cancela turnos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27832" y="3785616"/>
            <a:ext cx="2834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00984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79476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Profesional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9476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Ve y gestiona su agenda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99632" y="3785616"/>
            <a:ext cx="28346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72784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766560" y="38404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Admin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66560" y="41148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Control total 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Arquitectura Desacoplada — ¿Por qué separamos el frontend del backend?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566928"/>
            <a:ext cx="8631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Decisión de arquitectura central: el frontend y el backend viven en servidores distintos y se comunican solo por HTTP con JSON.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932688"/>
            <a:ext cx="3246120" cy="2944368"/>
          </a:xfrm>
          <a:prstGeom prst="roundRect">
            <a:avLst>
              <a:gd name="adj" fmla="val 2174"/>
            </a:avLst>
          </a:prstGeom>
          <a:solidFill>
            <a:srgbClr val="EBF8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32688"/>
            <a:ext cx="324612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932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🖥️  FRONTEND — Vue.js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40817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Lo que el usuario VE e INTERACTÚA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" y="1700784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642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BookingCalendar.vue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La pantalla de reserva en 3 pasos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" y="2084832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Axios + Bearer Token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2128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Comunica frontend con backend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" y="2468880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432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Pinia store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596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Guarda sesión entre pantallas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285292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163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Vue Router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9809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Navega sin recargar la página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2336" y="367588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D4ED8"/>
                </a:solidFill>
              </a:rPr>
              <a:t>☁️ Vercel / Netlify (gratuito)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30168" y="1517904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E1F5EE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15270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F6B"/>
                </a:solidFill>
              </a:rPr>
              <a:t>📨  Envía solicitud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30168" y="17190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HTTP + JSON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30168" y="1975104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E1F5EE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19842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F6B"/>
                </a:solidFill>
              </a:rPr>
              <a:t>🔐  Se identifica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30168" y="21762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Bearer Token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630168" y="2432304"/>
            <a:ext cx="1883664" cy="384048"/>
          </a:xfrm>
          <a:prstGeom prst="roundRect">
            <a:avLst>
              <a:gd name="adj" fmla="val 11905"/>
            </a:avLst>
          </a:prstGeom>
          <a:solidFill>
            <a:srgbClr val="E1F5EE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44144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5F6B"/>
                </a:solidFill>
              </a:rPr>
              <a:t>📬  Recibe respuesta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30168" y="263347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JSON: turnos, médicos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641848" y="932688"/>
            <a:ext cx="3246120" cy="2944368"/>
          </a:xfrm>
          <a:prstGeom prst="roundRect">
            <a:avLst>
              <a:gd name="adj" fmla="val 2174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41848" y="932688"/>
            <a:ext cx="32461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41848" y="932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BACKEND — Laravel 11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88152" y="140817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La lógica, las reglas y los datos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24728" y="1700784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166420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TurnoController.php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0176" y="1828800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Crea y gestiona turnos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24728" y="2084832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0176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CheckRole middleware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0176" y="221284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Verifica permisos por rol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824728" y="2468880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243230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Sanctum tokens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0176" y="2596896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Identifica a cada usuario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24728" y="2852928"/>
            <a:ext cx="73152" cy="731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0176" y="28163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Eloquent ORM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80176" y="2980944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Guarda datos sin SQL manual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788152" y="3675888"/>
            <a:ext cx="2944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</a:rPr>
              <a:t>☁️ Railway / Fly.io (gratuito)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766560" y="3913632"/>
            <a:ext cx="1737360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66560" y="3913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</a:rPr>
              <a:t>🗄️  MySQL / PostgreSQL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44384" y="3877056"/>
            <a:ext cx="0" cy="36576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ot"/>
          </a:ln>
        </p:spPr>
      </p:sp>
      <p:sp>
        <p:nvSpPr>
          <p:cNvPr id="51" name="Text 49"/>
          <p:cNvSpPr/>
          <p:nvPr/>
        </p:nvSpPr>
        <p:spPr>
          <a:xfrm>
            <a:off x="256032" y="4258269"/>
            <a:ext cx="8631936" cy="243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¿Por qué separado? Tres ventajas concretas: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56032" y="4584390"/>
            <a:ext cx="73152" cy="80467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0624" y="4503420"/>
            <a:ext cx="8467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⚡ Escalar de forma independiente — si hay mucho tráfico en la web, se refuerza solo el frontend sin tocar el backend.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56032" y="4726122"/>
            <a:ext cx="73152" cy="80467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681728"/>
            <a:ext cx="8467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📱 Reutilizar el backend — la misma API de Laravel puede alimentar una app móvil en el futuro sin cambiar una línea.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2374" y="4882896"/>
            <a:ext cx="73152" cy="80467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" y="4828032"/>
            <a:ext cx="8467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👥 Trabajo en paralelo — un integrante trabaja en Vue sin bloquear al que trabaja en Laravel.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Backend — Archivos, Endpoints y Decisiones de Diseño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585216"/>
            <a:ext cx="411480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585216"/>
            <a:ext cx="50292" cy="131673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6492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routes/api.php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914400"/>
            <a:ext cx="1088136" cy="192024"/>
          </a:xfrm>
          <a:prstGeom prst="roundRect">
            <a:avLst>
              <a:gd name="adj" fmla="val 1904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14400"/>
            <a:ext cx="10881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Enrutador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13385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URLs públicas: /login, /register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38988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135331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URLs protegidas: requieren token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609344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57276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Restricción de rol por endpoint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" y="179222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Punto de entrada único de la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2048256"/>
            <a:ext cx="411480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048256"/>
            <a:ext cx="50292" cy="13167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1122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StoreTurnoRequest.php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" y="2377440"/>
            <a:ext cx="1792224" cy="192024"/>
          </a:xfrm>
          <a:prstGeom prst="roundRect">
            <a:avLst>
              <a:gd name="adj" fmla="val 1904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377440"/>
            <a:ext cx="1792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Validación · SRP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59689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profesional_id: existe en la DB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52928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" y="281635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fecha_hora: debe ser futura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07238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" y="303580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Mensajes de error en español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325526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Se ejecuta antes del controlador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6032" y="3511296"/>
            <a:ext cx="411480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511296"/>
            <a:ext cx="50292" cy="1316736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3575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Turno.php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840480"/>
            <a:ext cx="786384" cy="192024"/>
          </a:xfrm>
          <a:prstGeom prst="roundRect">
            <a:avLst>
              <a:gd name="adj" fmla="val 19048"/>
            </a:avLst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840480"/>
            <a:ext cx="7863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Modelo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4096512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4059936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$fillable: anti Mass Assignment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315968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4279392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SoftDelete: historial inalterable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535424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" y="4498848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Relaciones: cliente + profesional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754880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" y="4718304"/>
            <a:ext cx="3639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Índice para optimizar búsquedas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90288" y="58521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Endpoints de la API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90288" y="877824"/>
            <a:ext cx="4370832" cy="2743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87782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Método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230368" y="87782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Ruta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49440" y="87782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Rol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790688" y="87782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Acción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90288" y="1152144"/>
            <a:ext cx="4370832" cy="3749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626864" y="1225296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26864" y="1225296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138928" y="118872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/api/auth/register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839712" y="1207008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Público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80960" y="120700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Registro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90288" y="1545336"/>
            <a:ext cx="4370832" cy="374904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6864" y="1618488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26864" y="161848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138928" y="158191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39712" y="1600200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Público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680960" y="160020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Login → token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90288" y="1938528"/>
            <a:ext cx="4370832" cy="3749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26864" y="2011680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26864" y="2011680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138928" y="1975104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/api/profesionales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839712" y="1993392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</a:rPr>
              <a:t>Auth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680960" y="1993392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Lista médicos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90288" y="2331720"/>
            <a:ext cx="4370832" cy="374904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26864" y="2404872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26864" y="2404872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5138928" y="23682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/api/.../disponibilidad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6839712" y="2386584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</a:rPr>
              <a:t>Auth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80960" y="2386584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Horarios libres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4590288" y="2724912"/>
            <a:ext cx="4370832" cy="3749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626864" y="2798064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626864" y="2798064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138928" y="276148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/api/turnos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839712" y="2779776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</a:rPr>
              <a:t>cliente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680960" y="2779776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Reservar turno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4590288" y="3118104"/>
            <a:ext cx="4370832" cy="374904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26864" y="3191256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26864" y="3191256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138928" y="3154680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/api/turnos/profesional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839712" y="3172968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</a:rPr>
              <a:t>profesional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680960" y="3172968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Ver agenda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590288" y="3511296"/>
            <a:ext cx="4370832" cy="3749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26864" y="3584448"/>
            <a:ext cx="457200" cy="192024"/>
          </a:xfrm>
          <a:prstGeom prst="roundRect">
            <a:avLst>
              <a:gd name="adj" fmla="val 14286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26864" y="3584448"/>
            <a:ext cx="457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PUT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5138928" y="3547872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/api/turnos/{id}/estado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6839712" y="3566160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28090"/>
                </a:solidFill>
              </a:rPr>
              <a:t>profesional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7680960" y="3566160"/>
            <a:ext cx="12435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</a:rPr>
              <a:t>Cambiar estado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4590288" y="3968496"/>
            <a:ext cx="4370832" cy="987552"/>
          </a:xfrm>
          <a:prstGeom prst="roundRect">
            <a:avLst>
              <a:gd name="adj" fmla="val 6481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4590288" y="3968496"/>
            <a:ext cx="50292" cy="9875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36592" y="404164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</a:rPr>
              <a:t>🔐  lockForUpdate() — Prevención de dobles reservas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4736592" y="4297680"/>
            <a:ext cx="4069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DB::transaction() bloquea la fila del horario mientras se procesa. El primero que llega lo bloquea, verifica, crea y libera. El segundo espera, lee que está ocupado y recibe HTTP 409. Garantiza propiedades ACID.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Frontend — Vue.js 3 · BookingCalendar en 3 pasos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585216"/>
            <a:ext cx="2816352" cy="2542032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2336" y="713232"/>
            <a:ext cx="475488" cy="47548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713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7498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Elegí el médico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243584"/>
            <a:ext cx="2606040" cy="192024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635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43584"/>
            <a:ext cx="2532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/api/profesionales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499616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La lista se carga automáticamente al abrir el componente. ref() hace que la pantalla se actualice sola cuando cambia la selección.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90672" y="1847088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18688" y="585216"/>
            <a:ext cx="2816352" cy="2542032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64992" y="71323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713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13632" y="7498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Elegí fecha y horario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243584"/>
            <a:ext cx="2606040" cy="192024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46704" y="1243584"/>
            <a:ext cx="2532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/api/.../disponibilidad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10128" y="1499616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Al cambiar la fecha se consultan los horarios automáticamente. Libres = verde (seleccionables). Ocupados = gris (deshabilitados).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53328" y="1847088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181344" y="585216"/>
            <a:ext cx="2816352" cy="2542032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27648" y="713232"/>
            <a:ext cx="475488" cy="475488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713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76288" y="749808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Confirmá la reserva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2784" y="1243584"/>
            <a:ext cx="2606040" cy="192024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6350">
            <a:solidFill>
              <a:srgbClr val="4C1D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243584"/>
            <a:ext cx="25328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/api/turnos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72784" y="1499616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Si otro usuario tomó el horario justo antes: HTTP 409 y aviso para elegir otro. Si los datos son inválidos: HTTP 422. Si la sesión venció: HTTP 401.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6032" y="3246120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¿Por qué Vue.js 3 y no React o Angular?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3547872"/>
            <a:ext cx="281635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547872"/>
            <a:ext cx="50292" cy="12984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36118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Vue.js 3 ✓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8912" y="387705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Composition API organiza el código por funcionalidad. Documentación en español. Curva de aprendizaje más accesible que React. Tamaño ideal para este proyecto.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18688" y="3547872"/>
            <a:ext cx="281635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18688" y="3547872"/>
            <a:ext cx="50292" cy="1298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36118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React ✗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01568" y="387705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Muy popular pero requiere más decisiones de configuración adicional. Curva más pronunciada para el equipo.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81344" y="3547872"/>
            <a:ext cx="2816352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3547872"/>
            <a:ext cx="50292" cy="12984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36118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Angular 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64224" y="3877056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Diseñado para sistemas empresariales muy grandes. Agrega complejidad innecesaria para el alcance de este TP.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Testing — PHPUnit 11 · 6 Feature Tests · SQLite en memoria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56032" y="585216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¿Por qué Feature Tests y no Unit Tests?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886968"/>
            <a:ext cx="413308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86968"/>
            <a:ext cx="50292" cy="87782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50976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1D95"/>
                </a:solidFill>
              </a:rPr>
              <a:t>Feature Tests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C1D95"/>
                </a:solidFill>
              </a:rPr>
              <a:t>(lo que hicimos)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8912" y="1225296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Prueban el sistema completo: petición HTTP → autenticación → controlador → base de datos → respuesta. Verifican que todas las partes funcionen juntas.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" y="1901952"/>
            <a:ext cx="413308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901952"/>
            <a:ext cx="50292" cy="87782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9659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Unit Tests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</a:rPr>
              <a:t>(alternativa)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2240280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Solo prueban una función aislada, sin base de datos ni peticiones reales. Más rápidos pero menos representativos de lo que experimenta el usuario.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916936"/>
            <a:ext cx="413308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916936"/>
            <a:ext cx="50292" cy="87782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98094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</a:rPr>
              <a:t>SQLite :memory: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38912" y="3255264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Base de datos en RAM. Sin servidor, se crea en milisegundos. Los 6 tests corren en ~2 segundos. Fundamental para que funcione el pipeline de GitHub Actions.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931920"/>
            <a:ext cx="4133088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931920"/>
            <a:ext cx="50292" cy="87782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95928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</a:rPr>
              <a:t>RefreshDatabase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912" y="4270248"/>
            <a:ext cx="3767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Reinicia la DB antes de cada test. Cada prueba empieza limpia y no afecta a las otras.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17720" y="585216"/>
            <a:ext cx="4315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Los 6 tests — qué simulan y qué verifican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886968"/>
            <a:ext cx="431596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81728" y="90525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92624" y="9326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Un cliente reserva un turno libre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92624" y="1170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201 + turno en base de datos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1563624"/>
            <a:ext cx="431596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81728" y="158191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92624" y="16093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Dos personas, mismo horario al mismo tiempo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92624" y="1847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409 + solo 1 registro (lockForUpdate funciona)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2240280"/>
            <a:ext cx="431596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81728" y="22585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92624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Alguien sin iniciar sesión intenta reservar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92624" y="25237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401 automático — Sanctum lo rechaza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916936"/>
            <a:ext cx="431596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81728" y="293522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92624" y="2962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 envían datos incorrectos o vacíos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92624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422 con detalle de qué está mal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17720" y="3593592"/>
            <a:ext cx="431596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81728" y="36118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92624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El médico completa su propio turno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92624" y="38770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1D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200 + estado actualizado en DB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17720" y="4270248"/>
            <a:ext cx="4315968" cy="603504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81728" y="428853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92624" y="4315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El médico toca el turno de un colega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92624" y="4553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3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403 — el estado no cambia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CI/CD — GitHub Actions + Deploy en Railway &amp; Vercel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Push / PR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 main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71600" y="996696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7904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7904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GitHub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Actions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33472" y="996696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9776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ubuntu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latest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95344" y="996696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1648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composer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install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57216" y="996696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.env + DB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:memory: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19088" y="996696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artisan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migrate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680960" y="996696"/>
            <a:ext cx="14630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27264" y="585216"/>
            <a:ext cx="1115568" cy="822960"/>
          </a:xfrm>
          <a:prstGeom prst="roundRect">
            <a:avLst>
              <a:gd name="adj" fmla="val 6667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612648"/>
            <a:ext cx="1115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artisan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test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1572768"/>
            <a:ext cx="4133088" cy="694944"/>
          </a:xfrm>
          <a:prstGeom prst="roundRect">
            <a:avLst>
              <a:gd name="adj" fmla="val 9211"/>
            </a:avLst>
          </a:prstGeom>
          <a:solidFill>
            <a:srgbClr val="F0FFF4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1572768"/>
            <a:ext cx="50292" cy="694944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164592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</a:rPr>
              <a:t>✅  Tests pasan → PR puede mergearse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" y="190195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Código aprobado. El equipo recibe notificación verde.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572768"/>
            <a:ext cx="4133088" cy="694944"/>
          </a:xfrm>
          <a:prstGeom prst="roundRect">
            <a:avLst>
              <a:gd name="adj" fmla="val 9211"/>
            </a:avLst>
          </a:prstGeom>
          <a:solidFill>
            <a:srgbClr val="FFF1F2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572768"/>
            <a:ext cx="50292" cy="694944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645920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3412"/>
                </a:solidFill>
              </a:rPr>
              <a:t>❌  Tests fallan → merge bloqueado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190195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GitHub bloquea el cambio. El código roto no llega a main.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032" y="239572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Plataformas de hosting — ambas gratuitas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56032" y="2706624"/>
            <a:ext cx="4242816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2706624"/>
            <a:ext cx="50292" cy="8046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27797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Vercel — FRONTEND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8912" y="303580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Conectar el repo de GitHub → detecta Vue automáticamente → build y deploy en ~2 minutos → URL pública.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18304" y="2706624"/>
            <a:ext cx="4242816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18304" y="2706624"/>
            <a:ext cx="50292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2779776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Railway — BACKEND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01184" y="303580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Conectar el repo → configurar variables de entorno (.env) → MySQL incluido → deploy automático en cada push.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56032" y="3621024"/>
            <a:ext cx="8631936" cy="1389888"/>
          </a:xfrm>
          <a:prstGeom prst="roundRect">
            <a:avLst>
              <a:gd name="adj" fmla="val 4605"/>
            </a:avLst>
          </a:prstGeom>
          <a:solidFill>
            <a:srgbClr val="0D1B4B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20624" y="37124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9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.github/workflows/test.yml — fragmento clave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0624" y="39319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EA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on: push/PR → branches: [main]  |  runs-on: ubuntu-latest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3931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Cuándo se activa y en qué sistema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20624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DB_CONNECTION=sqlite  |  DB_DATABASE=:memory:  |  APP_ENV=testing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6072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Base de datos en RAM para los tests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0624" y="4572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php artisan migrate  →  php artisan test --parallel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6072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 tablas y corre los 6 tests (~2 seg)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Seguridad — 4 Capas de Protección · Principio de Mínimo Privilegio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585216"/>
            <a:ext cx="43159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585216"/>
            <a:ext cx="4315968" cy="50292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676656"/>
            <a:ext cx="402336" cy="402336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24" y="713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Sanctum — Token de acceso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" y="1188720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13385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Cada petición privada necesita: Authorization: Bearer {token}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0624" y="1536192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4813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Sin token válido → HTTP 401 automático (nunca llega al controlador)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" y="1883664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8288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Tokens guardados en DB: al cerrar sesión se borran instantáneamente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" y="2231136"/>
            <a:ext cx="73152" cy="73152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17627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Ventaja sobre JWT: un JWT sigue válido hasta que expira aunque el usuario cierre sesión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585216"/>
            <a:ext cx="43159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585216"/>
            <a:ext cx="4315968" cy="502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676656"/>
            <a:ext cx="402336" cy="402336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676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6672" y="7132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CheckRole — Verificación de rol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19472" y="1188720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65776" y="113385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role:cliente: puede reservar, no puede ver agendas de médicos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19472" y="1536192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65776" y="148132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role:profesional: solo ve y gestiona sus propios turnos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9472" y="1883664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65776" y="182880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Rol incorrecto → HTTP 403 Forbidden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19472" y="2231136"/>
            <a:ext cx="73152" cy="731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217627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Separación estricta: cada tipo de usuario solo accede a lo que le corresponde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" y="2798064"/>
            <a:ext cx="43159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2798064"/>
            <a:ext cx="4315968" cy="502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2889504"/>
            <a:ext cx="402336" cy="40233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77824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StoreTurnoRequest — Validación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20624" y="3401568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3467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profesional_id: debe existir en la base de datos (rule: exists:users,id)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0624" y="3749040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369417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fecha_hora: debe ser en el futuro (rule: after:now) — no turnos en el pasado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" y="4096512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404164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Dato inválido → HTTP 422 con mensaje en español indicando exactamente qué falló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0624" y="4443984"/>
            <a:ext cx="73152" cy="7315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438912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Se ejecuta antes del controlador — el controlador recibe datos siempre limpios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54880" y="2798064"/>
            <a:ext cx="4315968" cy="2084832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2798064"/>
            <a:ext cx="4315968" cy="50292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82896" y="2889504"/>
            <a:ext cx="402336" cy="402336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76672" y="29260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</a:rPr>
              <a:t>Autorización por recurso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919472" y="3401568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65776" y="33467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cambiarEstado(): verifica que el turno pertenezca al profesional autenticado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919472" y="3749040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65776" y="369417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No alcanza con tener rol 'profesional': hay que ser el dueño de ese turno específico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919472" y="4096512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65776" y="404164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$fillable en el modelo: previene que se modifiquen campos no autorizados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19472" y="4443984"/>
            <a:ext cx="73152" cy="73152"/>
          </a:xfrm>
          <a:prstGeom prst="ellipse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65776" y="4389120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SoftDelete: borrado lógico — el historial es permanente y auditable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773168"/>
            <a:ext cx="8631936" cy="237744"/>
          </a:xfrm>
          <a:prstGeom prst="roundRect">
            <a:avLst>
              <a:gd name="adj" fmla="val 26923"/>
            </a:avLst>
          </a:prstGeom>
          <a:solidFill>
            <a:srgbClr val="4C1D95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56032" y="4773168"/>
            <a:ext cx="50292" cy="237744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Principio de mínimo privilegio: cada actor solo accede a los recursos estrictamente necesarios para su función específica.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5F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</a:rPr>
              <a:t>Preguntas</a:t>
            </a:r>
            <a:r>
              <a:rPr lang="en-US" sz="1700" b="1" dirty="0">
                <a:solidFill>
                  <a:srgbClr val="FFFFFF"/>
                </a:solidFill>
              </a:rPr>
              <a:t> </a:t>
            </a:r>
            <a:r>
              <a:rPr lang="en-US" sz="1700" b="1" dirty="0" err="1">
                <a:solidFill>
                  <a:srgbClr val="FFFFFF"/>
                </a:solidFill>
              </a:rPr>
              <a:t>Probables</a:t>
            </a:r>
            <a:r>
              <a:rPr lang="en-US" sz="1700" b="1" dirty="0">
                <a:solidFill>
                  <a:srgbClr val="FFFFFF"/>
                </a:solidFill>
              </a:rPr>
              <a:t>— Respuestas directas y preparadas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6032" y="585216"/>
            <a:ext cx="4242816" cy="1353312"/>
          </a:xfrm>
          <a:prstGeom prst="roundRect">
            <a:avLst>
              <a:gd name="adj" fmla="val 4730"/>
            </a:avLst>
          </a:prstGeom>
          <a:solidFill>
            <a:srgbClr val="132045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585216"/>
            <a:ext cx="4242816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583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58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67665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¿Por qué Vue y no React o Angular?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969264"/>
            <a:ext cx="4023360" cy="0"/>
          </a:xfrm>
          <a:prstGeom prst="line">
            <a:avLst/>
          </a:prstGeom>
          <a:noFill/>
          <a:ln w="635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2412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</a:rPr>
              <a:t>Vue tiene documentación en español, Composition API para código organizado y es más accesible que React para un equipo sin años de experiencia. Angular es excesivo para el alcance de este proyecto.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73168" y="585216"/>
            <a:ext cx="4242816" cy="1353312"/>
          </a:xfrm>
          <a:prstGeom prst="roundRect">
            <a:avLst>
              <a:gd name="adj" fmla="val 4730"/>
            </a:avLst>
          </a:prstGeom>
          <a:solidFill>
            <a:srgbClr val="132045"/>
          </a:solidFill>
          <a:ln w="1016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585216"/>
            <a:ext cx="4242816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2896" y="6583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D4ED8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658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67665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¿Por qué Laravel y no Node.js?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82896" y="969264"/>
            <a:ext cx="4023360" cy="0"/>
          </a:xfrm>
          <a:prstGeom prst="line">
            <a:avLst/>
          </a:prstGeom>
          <a:noFill/>
          <a:ln w="6350">
            <a:solidFill>
              <a:srgbClr val="1D4ED8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02412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</a:rPr>
              <a:t>Laravel incluye Sanctum, Eloquent, validación y PHPUnit de fábrica. Con Node.js habría que integrar y configurar cada pieza por separado. Es el estándar para APIs PHP en la industria.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048256"/>
            <a:ext cx="4242816" cy="1353312"/>
          </a:xfrm>
          <a:prstGeom prst="roundRect">
            <a:avLst>
              <a:gd name="adj" fmla="val 4730"/>
            </a:avLst>
          </a:prstGeom>
          <a:solidFill>
            <a:srgbClr val="132045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048256"/>
            <a:ext cx="4242816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B45309">
              <a:alpha val="40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213969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¿Qué hace lockForUpdate() exactamente?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432304"/>
            <a:ext cx="4023360" cy="0"/>
          </a:xfrm>
          <a:prstGeom prst="line">
            <a:avLst/>
          </a:prstGeom>
          <a:noFill/>
          <a:ln w="635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8716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</a:rPr>
              <a:t>Bloquea la fila del horario en la base de datos durante la transacción. Si dos personas hacen clic al mismo instante: la primera bloquea, verifica, reserva y libera. La segunda espera, lee que está ocupado y recibe HTTP 409.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73168" y="2048256"/>
            <a:ext cx="4242816" cy="1353312"/>
          </a:xfrm>
          <a:prstGeom prst="roundRect">
            <a:avLst>
              <a:gd name="adj" fmla="val 4730"/>
            </a:avLst>
          </a:prstGeom>
          <a:solidFill>
            <a:srgbClr val="132045"/>
          </a:solidFill>
          <a:ln w="10160">
            <a:solidFill>
              <a:srgbClr val="9A341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2048256"/>
            <a:ext cx="4242816" cy="36576"/>
          </a:xfrm>
          <a:prstGeom prst="rect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82896" y="21214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9A3412">
              <a:alpha val="40000"/>
            </a:srgbClr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213969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¿SQLite en tests no invalida los resultados?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82896" y="2432304"/>
            <a:ext cx="4023360" cy="0"/>
          </a:xfrm>
          <a:prstGeom prst="line">
            <a:avLst/>
          </a:prstGeom>
          <a:noFill/>
          <a:ln w="6350">
            <a:solidFill>
              <a:srgbClr val="9A3412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248716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</a:rPr>
              <a:t>Los tests verifican el comportamiento de la app, no el motor de base de datos. SQLite soporta todas las operaciones necesarias. Ventaja concreta: los 6 tests corren en ~2 segundos sin servidor externo.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511296"/>
            <a:ext cx="4242816" cy="1353312"/>
          </a:xfrm>
          <a:prstGeom prst="roundRect">
            <a:avLst>
              <a:gd name="adj" fmla="val 4730"/>
            </a:avLst>
          </a:prstGeom>
          <a:solidFill>
            <a:srgbClr val="132045"/>
          </a:solidFill>
          <a:ln w="10160">
            <a:solidFill>
              <a:srgbClr val="4C1D9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511296"/>
            <a:ext cx="4242816" cy="36576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5844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4C1D95">
              <a:alpha val="40000"/>
            </a:srgbClr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4944" y="360273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¿Sanctum vs JWT?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895344"/>
            <a:ext cx="4023360" cy="0"/>
          </a:xfrm>
          <a:prstGeom prst="line">
            <a:avLst/>
          </a:prstGeom>
          <a:noFill/>
          <a:ln w="6350">
            <a:solidFill>
              <a:srgbClr val="4C1D95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95020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</a:rPr>
              <a:t>JWT no se puede revocar antes de que expire: si alguien cierra sesión, el token sigue siendo válido hasta su fecha de vencimiento. Sanctum guarda los tokens en la base de datos: al hacer logout se borran y dejan de funcionar de inmediato.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3511296"/>
            <a:ext cx="4242816" cy="1353312"/>
          </a:xfrm>
          <a:prstGeom prst="roundRect">
            <a:avLst>
              <a:gd name="adj" fmla="val 4730"/>
            </a:avLst>
          </a:prstGeom>
          <a:solidFill>
            <a:srgbClr val="132045"/>
          </a:solidFill>
          <a:ln w="10160">
            <a:solidFill>
              <a:srgbClr val="065F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3511296"/>
            <a:ext cx="4242816" cy="36576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82896" y="35844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65F46">
              <a:alpha val="40000"/>
            </a:srgbClr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584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?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12080" y="360273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¿El código es funcional o conceptual?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82896" y="3895344"/>
            <a:ext cx="4023360" cy="0"/>
          </a:xfrm>
          <a:prstGeom prst="line">
            <a:avLst/>
          </a:prstGeom>
          <a:noFill/>
          <a:ln w="6350">
            <a:solidFill>
              <a:srgbClr val="065F46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82896" y="3950208"/>
            <a:ext cx="40233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</a:rPr>
              <a:t>Es código funcional con estructura completa: migraciones, modelos, controladores, tests y pipeline de CI. Puede instalarse con 'composer install' y ejecutarse con 'php artisan migrate --seed'.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5F6B">
              <a:alpha val="8000"/>
            </a:srgbClr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VanguardiaShift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122529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0C9B1"/>
                </a:solidFill>
              </a:rPr>
              <a:t>Sistema de Gestión de Turnos Profesionales · Arquitectura Desacoplada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0D2A5A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099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Archivos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691640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0D2A5A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7099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14884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Endpoints REST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94760" y="1691640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0D2A5A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17099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6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9476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Tests automáticos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1691640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0D2A5A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7099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4068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Capas de seguridad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86600" y="1691640"/>
            <a:ext cx="1463040" cy="1078992"/>
          </a:xfrm>
          <a:prstGeom prst="roundRect">
            <a:avLst>
              <a:gd name="adj" fmla="val 6780"/>
            </a:avLst>
          </a:prstGeom>
          <a:solidFill>
            <a:srgbClr val="0D2A5A"/>
          </a:solidFill>
          <a:ln w="889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1709928"/>
            <a:ext cx="1463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9B1"/>
                </a:solidFill>
              </a:rPr>
              <a:t>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086600" y="23042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EA8C4"/>
                </a:solidFill>
              </a:rPr>
              <a:t>Pipeline CI/CD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96265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6FA5"/>
                </a:solidFill>
              </a:rPr>
              <a:t>Arquitectura desacoplada  ·  SOLID  ·  lockForUpdate + ACID  ·  Sanctum  ·  PHPUnit  ·  GitHub Actions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8138160" cy="18288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381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</a:rPr>
              <a:t>Quedamos a disposición para sus preguntas.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38770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6FA5"/>
                </a:solidFill>
              </a:rPr>
              <a:t>Programación de Vanguardia  ·  Prof. Esteban Calcagno  ·  Junio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2105</Words>
  <Application>Microsoft Office PowerPoint</Application>
  <PresentationFormat>Presentación en pantalla (16:9)</PresentationFormat>
  <Paragraphs>316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VanguardiaShift — Defensa TP Final</dc:title>
  <dc:subject>PptxGenJS Presentation</dc:subject>
  <dc:creator>PptxGenJS</dc:creator>
  <cp:lastModifiedBy>Borrego Matías Nahuel</cp:lastModifiedBy>
  <cp:revision>4</cp:revision>
  <dcterms:created xsi:type="dcterms:W3CDTF">2026-05-30T20:33:00Z</dcterms:created>
  <dcterms:modified xsi:type="dcterms:W3CDTF">2026-05-30T20:37:33Z</dcterms:modified>
</cp:coreProperties>
</file>